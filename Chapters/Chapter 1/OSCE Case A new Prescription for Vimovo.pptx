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7" r:id="rId2"/>
    <p:sldId id="258" r:id="rId3"/>
    <p:sldId id="259" r:id="rId4"/>
    <p:sldId id="260" r:id="rId5"/>
    <p:sldId id="261" r:id="rId6"/>
    <p:sldId id="262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0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0D9969E-A107-4AE0-A501-640BD4B5AF63}" type="datetimeFigureOut">
              <a:rPr lang="en-CA" smtClean="0"/>
              <a:t>2025-11-22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245FE7-AD72-419B-A3E6-EADA7C1651E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619916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Number Placeholder 6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10419783-541D-407C-AF30-92BC09540AB7}" type="slidenum">
              <a:rPr lang="en-US" altLang="en-US" smtClean="0">
                <a:latin typeface="Calibri" panose="020F0502020204030204" pitchFamily="34" charset="0"/>
                <a:ea typeface="MS PGothic" panose="020B0600070205080204" pitchFamily="34" charset="-128"/>
              </a:rPr>
              <a:pPr/>
              <a:t>1</a:t>
            </a:fld>
            <a:endParaRPr lang="en-US" altLang="en-US" smtClean="0">
              <a:latin typeface="Calibri" panose="020F0502020204030204" pitchFamily="34" charset="0"/>
              <a:ea typeface="MS PGothic" panose="020B0600070205080204" pitchFamily="34" charset="-128"/>
            </a:endParaRPr>
          </a:p>
        </p:txBody>
      </p:sp>
      <p:sp>
        <p:nvSpPr>
          <p:cNvPr id="16387" name="Rectangle 1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409575" y="706438"/>
            <a:ext cx="6207125" cy="34925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8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703263" y="4421188"/>
            <a:ext cx="5621337" cy="4191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numCol="1" anchor="ctr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41198583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Number Placeholder 6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E58FD7AF-BDA8-4F08-AA59-7E22894CD660}" type="slidenum">
              <a:rPr lang="en-US" altLang="en-US" smtClean="0">
                <a:latin typeface="Calibri" panose="020F0502020204030204" pitchFamily="34" charset="0"/>
                <a:ea typeface="MS PGothic" panose="020B0600070205080204" pitchFamily="34" charset="-128"/>
              </a:rPr>
              <a:pPr/>
              <a:t>2</a:t>
            </a:fld>
            <a:endParaRPr lang="en-US" altLang="en-US" smtClean="0">
              <a:latin typeface="Calibri" panose="020F0502020204030204" pitchFamily="34" charset="0"/>
              <a:ea typeface="MS PGothic" panose="020B0600070205080204" pitchFamily="34" charset="-128"/>
            </a:endParaRPr>
          </a:p>
        </p:txBody>
      </p:sp>
      <p:sp>
        <p:nvSpPr>
          <p:cNvPr id="18435" name="Rectangle 1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409575" y="706438"/>
            <a:ext cx="6207125" cy="34925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6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703263" y="4421188"/>
            <a:ext cx="5621337" cy="4191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numCol="1" anchor="ctr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4161666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Number Placeholder 6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68680960-1903-4D9A-812E-1DF1177B0CE4}" type="slidenum">
              <a:rPr lang="en-US" altLang="en-US" smtClean="0">
                <a:latin typeface="Calibri" panose="020F0502020204030204" pitchFamily="34" charset="0"/>
                <a:ea typeface="MS PGothic" panose="020B0600070205080204" pitchFamily="34" charset="-128"/>
              </a:rPr>
              <a:pPr/>
              <a:t>3</a:t>
            </a:fld>
            <a:endParaRPr lang="en-US" altLang="en-US" smtClean="0">
              <a:latin typeface="Calibri" panose="020F0502020204030204" pitchFamily="34" charset="0"/>
              <a:ea typeface="MS PGothic" panose="020B0600070205080204" pitchFamily="34" charset="-128"/>
            </a:endParaRPr>
          </a:p>
        </p:txBody>
      </p:sp>
      <p:sp>
        <p:nvSpPr>
          <p:cNvPr id="20483" name="Rectangle 1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409575" y="706438"/>
            <a:ext cx="6207125" cy="34925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0484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703263" y="4421188"/>
            <a:ext cx="5621337" cy="4191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numCol="1" anchor="ctr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2092643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Number Placeholder 6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5FAE87EC-B688-4324-871C-3E3268135413}" type="slidenum">
              <a:rPr lang="en-US" altLang="en-US" smtClean="0">
                <a:latin typeface="Calibri" panose="020F0502020204030204" pitchFamily="34" charset="0"/>
                <a:ea typeface="MS PGothic" panose="020B0600070205080204" pitchFamily="34" charset="-128"/>
              </a:rPr>
              <a:pPr/>
              <a:t>4</a:t>
            </a:fld>
            <a:endParaRPr lang="en-US" altLang="en-US" smtClean="0">
              <a:latin typeface="Calibri" panose="020F0502020204030204" pitchFamily="34" charset="0"/>
              <a:ea typeface="MS PGothic" panose="020B0600070205080204" pitchFamily="34" charset="-128"/>
            </a:endParaRPr>
          </a:p>
        </p:txBody>
      </p:sp>
      <p:sp>
        <p:nvSpPr>
          <p:cNvPr id="22531" name="Rectangle 1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409575" y="706438"/>
            <a:ext cx="6207125" cy="34925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2532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703263" y="4421188"/>
            <a:ext cx="5621337" cy="4191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numCol="1" anchor="ctr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8738521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Slide Number Placeholder 6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F0445835-6349-44B1-B30C-08A18A1499D5}" type="slidenum">
              <a:rPr lang="en-US" altLang="en-US" smtClean="0">
                <a:latin typeface="Calibri" panose="020F0502020204030204" pitchFamily="34" charset="0"/>
                <a:ea typeface="MS PGothic" panose="020B0600070205080204" pitchFamily="34" charset="-128"/>
              </a:rPr>
              <a:pPr/>
              <a:t>6</a:t>
            </a:fld>
            <a:endParaRPr lang="en-US" altLang="en-US" smtClean="0">
              <a:latin typeface="Calibri" panose="020F0502020204030204" pitchFamily="34" charset="0"/>
              <a:ea typeface="MS PGothic" panose="020B0600070205080204" pitchFamily="34" charset="-128"/>
            </a:endParaRPr>
          </a:p>
        </p:txBody>
      </p:sp>
      <p:sp>
        <p:nvSpPr>
          <p:cNvPr id="25603" name="Rectangle 1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409575" y="706438"/>
            <a:ext cx="6207125" cy="34925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5604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703263" y="4421188"/>
            <a:ext cx="5621337" cy="4191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numCol="1" anchor="ctr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6097012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05833-B227-4C16-AB86-74254AAC1502}" type="datetimeFigureOut">
              <a:rPr lang="en-CA" smtClean="0"/>
              <a:t>2025-11-22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EA7E5-F507-413C-BBD8-77809968B06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541183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05833-B227-4C16-AB86-74254AAC1502}" type="datetimeFigureOut">
              <a:rPr lang="en-CA" smtClean="0"/>
              <a:t>2025-11-22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EA7E5-F507-413C-BBD8-77809968B06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840799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05833-B227-4C16-AB86-74254AAC1502}" type="datetimeFigureOut">
              <a:rPr lang="en-CA" smtClean="0"/>
              <a:t>2025-11-22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EA7E5-F507-413C-BBD8-77809968B06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95278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05833-B227-4C16-AB86-74254AAC1502}" type="datetimeFigureOut">
              <a:rPr lang="en-CA" smtClean="0"/>
              <a:t>2025-11-22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EA7E5-F507-413C-BBD8-77809968B06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693174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05833-B227-4C16-AB86-74254AAC1502}" type="datetimeFigureOut">
              <a:rPr lang="en-CA" smtClean="0"/>
              <a:t>2025-11-22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EA7E5-F507-413C-BBD8-77809968B06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403597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05833-B227-4C16-AB86-74254AAC1502}" type="datetimeFigureOut">
              <a:rPr lang="en-CA" smtClean="0"/>
              <a:t>2025-11-22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EA7E5-F507-413C-BBD8-77809968B06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404313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05833-B227-4C16-AB86-74254AAC1502}" type="datetimeFigureOut">
              <a:rPr lang="en-CA" smtClean="0"/>
              <a:t>2025-11-22</a:t>
            </a:fld>
            <a:endParaRPr lang="en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EA7E5-F507-413C-BBD8-77809968B06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898788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05833-B227-4C16-AB86-74254AAC1502}" type="datetimeFigureOut">
              <a:rPr lang="en-CA" smtClean="0"/>
              <a:t>2025-11-22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EA7E5-F507-413C-BBD8-77809968B06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345191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05833-B227-4C16-AB86-74254AAC1502}" type="datetimeFigureOut">
              <a:rPr lang="en-CA" smtClean="0"/>
              <a:t>2025-11-22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EA7E5-F507-413C-BBD8-77809968B06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780048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05833-B227-4C16-AB86-74254AAC1502}" type="datetimeFigureOut">
              <a:rPr lang="en-CA" smtClean="0"/>
              <a:t>2025-11-22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EA7E5-F507-413C-BBD8-77809968B06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582713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05833-B227-4C16-AB86-74254AAC1502}" type="datetimeFigureOut">
              <a:rPr lang="en-CA" smtClean="0"/>
              <a:t>2025-11-22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EA7E5-F507-413C-BBD8-77809968B06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720303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>
  <p:cSld name="Title and Content ov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8641" y="273629"/>
            <a:ext cx="10968960" cy="114348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8641" y="1604330"/>
            <a:ext cx="10968960" cy="21933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8641" y="3935934"/>
            <a:ext cx="10968960" cy="21933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>
          <a:xfrm>
            <a:off x="609600" y="6246813"/>
            <a:ext cx="2836863" cy="471487"/>
          </a:xfrm>
        </p:spPr>
        <p:txBody>
          <a:bodyPr/>
          <a:lstStyle>
            <a:lvl1pPr>
              <a:defRPr>
                <a:solidFill>
                  <a:srgbClr val="898989"/>
                </a:solidFill>
                <a:latin typeface="Times New Roman" charset="0"/>
                <a:ea typeface="ＭＳ Ｐゴシック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idx="11"/>
          </p:nvPr>
        </p:nvSpPr>
        <p:spPr>
          <a:xfrm>
            <a:off x="4170363" y="6246813"/>
            <a:ext cx="3862387" cy="471487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idx="12"/>
          </p:nvPr>
        </p:nvSpPr>
        <p:spPr>
          <a:xfrm>
            <a:off x="8742363" y="6246813"/>
            <a:ext cx="2838450" cy="471487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0FC6142-3231-4C75-8B63-1E6D6B16BE7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947031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E05833-B227-4C16-AB86-74254AAC1502}" type="datetimeFigureOut">
              <a:rPr lang="en-CA" smtClean="0"/>
              <a:t>2025-11-22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AEA7E5-F507-413C-BBD8-77809968B06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244472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3" name="Rectangle 1"/>
          <p:cNvSpPr>
            <a:spLocks noGrp="1" noChangeArrowheads="1"/>
          </p:cNvSpPr>
          <p:nvPr>
            <p:ph type="body"/>
          </p:nvPr>
        </p:nvSpPr>
        <p:spPr>
          <a:xfrm>
            <a:off x="2022475" y="1628775"/>
            <a:ext cx="8228013" cy="2157413"/>
          </a:xfrm>
          <a:solidFill>
            <a:schemeClr val="bg2"/>
          </a:solidFill>
          <a:ln>
            <a:solidFill>
              <a:schemeClr val="tx1"/>
            </a:solidFill>
          </a:ln>
        </p:spPr>
        <p:txBody>
          <a:bodyPr tIns="25602" rtlCol="0" anchor="t">
            <a:normAutofit/>
          </a:bodyPr>
          <a:lstStyle/>
          <a:p>
            <a:pPr marL="311045" indent="-311045" eaLnBrk="1" fontAlgn="auto" hangingPunct="1">
              <a:spcBef>
                <a:spcPts val="3266"/>
              </a:spcBef>
              <a:spcAft>
                <a:spcPts val="3266"/>
              </a:spcAft>
              <a:tabLst>
                <a:tab pos="784812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  <a:tab pos="5253198" algn="l"/>
                <a:tab pos="5909847" algn="l"/>
                <a:tab pos="6566497" algn="l"/>
                <a:tab pos="7223147" algn="l"/>
                <a:tab pos="7879796" algn="l"/>
              </a:tabLst>
              <a:defRPr/>
            </a:pPr>
            <a:r>
              <a:rPr lang="en-US" sz="2900" dirty="0"/>
              <a:t>CANDIDATE'S INSTRUCTIONS</a:t>
            </a:r>
          </a:p>
          <a:p>
            <a:pPr marL="311045" indent="-311045" eaLnBrk="1" fontAlgn="auto" hangingPunct="1">
              <a:spcBef>
                <a:spcPts val="3266"/>
              </a:spcBef>
              <a:spcAft>
                <a:spcPts val="3266"/>
              </a:spcAft>
              <a:tabLst>
                <a:tab pos="784812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  <a:tab pos="5253198" algn="l"/>
                <a:tab pos="5909847" algn="l"/>
                <a:tab pos="6566497" algn="l"/>
                <a:tab pos="7223147" algn="l"/>
                <a:tab pos="7879796" algn="l"/>
              </a:tabLst>
              <a:defRPr/>
            </a:pPr>
            <a:r>
              <a:rPr lang="en-US" sz="2200" dirty="0"/>
              <a:t>A patient approaches you for a new medication prescribed to her for her condition. Kindly counsel her as you would in practice</a:t>
            </a:r>
          </a:p>
        </p:txBody>
      </p:sp>
      <p:sp>
        <p:nvSpPr>
          <p:cNvPr id="15363" name="Text Box 2"/>
          <p:cNvSpPr txBox="1">
            <a:spLocks noChangeArrowheads="1"/>
          </p:cNvSpPr>
          <p:nvPr/>
        </p:nvSpPr>
        <p:spPr bwMode="auto">
          <a:xfrm>
            <a:off x="1828800" y="4868863"/>
            <a:ext cx="8228013" cy="1160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20802" rIns="0" bIns="0"/>
          <a:lstStyle>
            <a:lvl1pPr marL="390525" indent="-293688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tabLst>
                <a:tab pos="655638" algn="l"/>
                <a:tab pos="1312863" algn="l"/>
                <a:tab pos="1968500" algn="l"/>
                <a:tab pos="2625725" algn="l"/>
                <a:tab pos="3282950" algn="l"/>
                <a:tab pos="3938588" algn="l"/>
                <a:tab pos="4595813" algn="l"/>
                <a:tab pos="5253038" algn="l"/>
                <a:tab pos="5908675" algn="l"/>
                <a:tab pos="6565900" algn="l"/>
                <a:tab pos="7223125" algn="l"/>
                <a:tab pos="7878763" algn="l"/>
              </a:tabLst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655638" algn="l"/>
                <a:tab pos="1312863" algn="l"/>
                <a:tab pos="1968500" algn="l"/>
                <a:tab pos="2625725" algn="l"/>
                <a:tab pos="3282950" algn="l"/>
                <a:tab pos="3938588" algn="l"/>
                <a:tab pos="4595813" algn="l"/>
                <a:tab pos="5253038" algn="l"/>
                <a:tab pos="5908675" algn="l"/>
                <a:tab pos="6565900" algn="l"/>
                <a:tab pos="7223125" algn="l"/>
                <a:tab pos="7878763" algn="l"/>
              </a:tabLst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655638" algn="l"/>
                <a:tab pos="1312863" algn="l"/>
                <a:tab pos="1968500" algn="l"/>
                <a:tab pos="2625725" algn="l"/>
                <a:tab pos="3282950" algn="l"/>
                <a:tab pos="3938588" algn="l"/>
                <a:tab pos="4595813" algn="l"/>
                <a:tab pos="5253038" algn="l"/>
                <a:tab pos="5908675" algn="l"/>
                <a:tab pos="6565900" algn="l"/>
                <a:tab pos="7223125" algn="l"/>
                <a:tab pos="7878763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655638" algn="l"/>
                <a:tab pos="1312863" algn="l"/>
                <a:tab pos="1968500" algn="l"/>
                <a:tab pos="2625725" algn="l"/>
                <a:tab pos="3282950" algn="l"/>
                <a:tab pos="3938588" algn="l"/>
                <a:tab pos="4595813" algn="l"/>
                <a:tab pos="5253038" algn="l"/>
                <a:tab pos="5908675" algn="l"/>
                <a:tab pos="6565900" algn="l"/>
                <a:tab pos="7223125" algn="l"/>
                <a:tab pos="787876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655638" algn="l"/>
                <a:tab pos="1312863" algn="l"/>
                <a:tab pos="1968500" algn="l"/>
                <a:tab pos="2625725" algn="l"/>
                <a:tab pos="3282950" algn="l"/>
                <a:tab pos="3938588" algn="l"/>
                <a:tab pos="4595813" algn="l"/>
                <a:tab pos="5253038" algn="l"/>
                <a:tab pos="5908675" algn="l"/>
                <a:tab pos="6565900" algn="l"/>
                <a:tab pos="7223125" algn="l"/>
                <a:tab pos="787876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655638" algn="l"/>
                <a:tab pos="1312863" algn="l"/>
                <a:tab pos="1968500" algn="l"/>
                <a:tab pos="2625725" algn="l"/>
                <a:tab pos="3282950" algn="l"/>
                <a:tab pos="3938588" algn="l"/>
                <a:tab pos="4595813" algn="l"/>
                <a:tab pos="5253038" algn="l"/>
                <a:tab pos="5908675" algn="l"/>
                <a:tab pos="6565900" algn="l"/>
                <a:tab pos="7223125" algn="l"/>
                <a:tab pos="787876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655638" algn="l"/>
                <a:tab pos="1312863" algn="l"/>
                <a:tab pos="1968500" algn="l"/>
                <a:tab pos="2625725" algn="l"/>
                <a:tab pos="3282950" algn="l"/>
                <a:tab pos="3938588" algn="l"/>
                <a:tab pos="4595813" algn="l"/>
                <a:tab pos="5253038" algn="l"/>
                <a:tab pos="5908675" algn="l"/>
                <a:tab pos="6565900" algn="l"/>
                <a:tab pos="7223125" algn="l"/>
                <a:tab pos="787876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655638" algn="l"/>
                <a:tab pos="1312863" algn="l"/>
                <a:tab pos="1968500" algn="l"/>
                <a:tab pos="2625725" algn="l"/>
                <a:tab pos="3282950" algn="l"/>
                <a:tab pos="3938588" algn="l"/>
                <a:tab pos="4595813" algn="l"/>
                <a:tab pos="5253038" algn="l"/>
                <a:tab pos="5908675" algn="l"/>
                <a:tab pos="6565900" algn="l"/>
                <a:tab pos="7223125" algn="l"/>
                <a:tab pos="787876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655638" algn="l"/>
                <a:tab pos="1312863" algn="l"/>
                <a:tab pos="1968500" algn="l"/>
                <a:tab pos="2625725" algn="l"/>
                <a:tab pos="3282950" algn="l"/>
                <a:tab pos="3938588" algn="l"/>
                <a:tab pos="4595813" algn="l"/>
                <a:tab pos="5253038" algn="l"/>
                <a:tab pos="5908675" algn="l"/>
                <a:tab pos="6565900" algn="l"/>
                <a:tab pos="7223125" algn="l"/>
                <a:tab pos="787876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ts val="1288"/>
              </a:spcAft>
              <a:buSzPct val="45000"/>
              <a:buFont typeface="Wingdings 2" panose="05020102010507070707" pitchFamily="18" charset="2"/>
              <a:buNone/>
            </a:pPr>
            <a:r>
              <a:rPr lang="en-US" altLang="en-US" sz="24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Timeframe: You have 7 minutes to complete this station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ts val="1288"/>
              </a:spcAft>
              <a:buSzPct val="45000"/>
              <a:buFont typeface="Wingdings 2" panose="05020102010507070707" pitchFamily="18" charset="2"/>
              <a:buNone/>
            </a:pPr>
            <a:r>
              <a:rPr lang="en-US" altLang="en-US" sz="24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References: CPS</a:t>
            </a:r>
          </a:p>
        </p:txBody>
      </p:sp>
      <p:pic>
        <p:nvPicPr>
          <p:cNvPr id="15364" name="Picture 10" descr="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91625" y="5157788"/>
            <a:ext cx="1127125" cy="1268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365" name="TextBox 1"/>
          <p:cNvSpPr txBox="1">
            <a:spLocks noChangeArrowheads="1"/>
          </p:cNvSpPr>
          <p:nvPr/>
        </p:nvSpPr>
        <p:spPr bwMode="auto">
          <a:xfrm>
            <a:off x="1914525" y="960438"/>
            <a:ext cx="3979863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CA" altLang="en-US" sz="2400" b="1"/>
              <a:t>Pharmacy prep Exam Case # 2</a:t>
            </a:r>
          </a:p>
        </p:txBody>
      </p:sp>
    </p:spTree>
    <p:extLst>
      <p:ext uri="{BB962C8B-B14F-4D97-AF65-F5344CB8AC3E}">
        <p14:creationId xmlns:p14="http://schemas.microsoft.com/office/powerpoint/2010/main" val="206011430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ext Box 1"/>
          <p:cNvSpPr txBox="1">
            <a:spLocks noChangeArrowheads="1"/>
          </p:cNvSpPr>
          <p:nvPr/>
        </p:nvSpPr>
        <p:spPr bwMode="auto">
          <a:xfrm>
            <a:off x="1065213" y="581025"/>
            <a:ext cx="10545762" cy="5722938"/>
          </a:xfrm>
          <a:prstGeom prst="rect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81639" tIns="60021" rIns="81639" bIns="40820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tabLst>
                <a:tab pos="655638" algn="l"/>
                <a:tab pos="1312863" algn="l"/>
                <a:tab pos="1968500" algn="l"/>
                <a:tab pos="2625725" algn="l"/>
                <a:tab pos="3282950" algn="l"/>
                <a:tab pos="3938588" algn="l"/>
                <a:tab pos="4595813" algn="l"/>
                <a:tab pos="5253038" algn="l"/>
                <a:tab pos="5908675" algn="l"/>
                <a:tab pos="6565900" algn="l"/>
                <a:tab pos="7223125" algn="l"/>
              </a:tabLst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655638" algn="l"/>
                <a:tab pos="1312863" algn="l"/>
                <a:tab pos="1968500" algn="l"/>
                <a:tab pos="2625725" algn="l"/>
                <a:tab pos="3282950" algn="l"/>
                <a:tab pos="3938588" algn="l"/>
                <a:tab pos="4595813" algn="l"/>
                <a:tab pos="5253038" algn="l"/>
                <a:tab pos="5908675" algn="l"/>
                <a:tab pos="6565900" algn="l"/>
                <a:tab pos="7223125" algn="l"/>
              </a:tabLst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655638" algn="l"/>
                <a:tab pos="1312863" algn="l"/>
                <a:tab pos="1968500" algn="l"/>
                <a:tab pos="2625725" algn="l"/>
                <a:tab pos="3282950" algn="l"/>
                <a:tab pos="3938588" algn="l"/>
                <a:tab pos="4595813" algn="l"/>
                <a:tab pos="5253038" algn="l"/>
                <a:tab pos="5908675" algn="l"/>
                <a:tab pos="6565900" algn="l"/>
                <a:tab pos="7223125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655638" algn="l"/>
                <a:tab pos="1312863" algn="l"/>
                <a:tab pos="1968500" algn="l"/>
                <a:tab pos="2625725" algn="l"/>
                <a:tab pos="3282950" algn="l"/>
                <a:tab pos="3938588" algn="l"/>
                <a:tab pos="4595813" algn="l"/>
                <a:tab pos="5253038" algn="l"/>
                <a:tab pos="5908675" algn="l"/>
                <a:tab pos="6565900" algn="l"/>
                <a:tab pos="722312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655638" algn="l"/>
                <a:tab pos="1312863" algn="l"/>
                <a:tab pos="1968500" algn="l"/>
                <a:tab pos="2625725" algn="l"/>
                <a:tab pos="3282950" algn="l"/>
                <a:tab pos="3938588" algn="l"/>
                <a:tab pos="4595813" algn="l"/>
                <a:tab pos="5253038" algn="l"/>
                <a:tab pos="5908675" algn="l"/>
                <a:tab pos="6565900" algn="l"/>
                <a:tab pos="722312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655638" algn="l"/>
                <a:tab pos="1312863" algn="l"/>
                <a:tab pos="1968500" algn="l"/>
                <a:tab pos="2625725" algn="l"/>
                <a:tab pos="3282950" algn="l"/>
                <a:tab pos="3938588" algn="l"/>
                <a:tab pos="4595813" algn="l"/>
                <a:tab pos="5253038" algn="l"/>
                <a:tab pos="5908675" algn="l"/>
                <a:tab pos="6565900" algn="l"/>
                <a:tab pos="722312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655638" algn="l"/>
                <a:tab pos="1312863" algn="l"/>
                <a:tab pos="1968500" algn="l"/>
                <a:tab pos="2625725" algn="l"/>
                <a:tab pos="3282950" algn="l"/>
                <a:tab pos="3938588" algn="l"/>
                <a:tab pos="4595813" algn="l"/>
                <a:tab pos="5253038" algn="l"/>
                <a:tab pos="5908675" algn="l"/>
                <a:tab pos="6565900" algn="l"/>
                <a:tab pos="722312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655638" algn="l"/>
                <a:tab pos="1312863" algn="l"/>
                <a:tab pos="1968500" algn="l"/>
                <a:tab pos="2625725" algn="l"/>
                <a:tab pos="3282950" algn="l"/>
                <a:tab pos="3938588" algn="l"/>
                <a:tab pos="4595813" algn="l"/>
                <a:tab pos="5253038" algn="l"/>
                <a:tab pos="5908675" algn="l"/>
                <a:tab pos="6565900" algn="l"/>
                <a:tab pos="722312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655638" algn="l"/>
                <a:tab pos="1312863" algn="l"/>
                <a:tab pos="1968500" algn="l"/>
                <a:tab pos="2625725" algn="l"/>
                <a:tab pos="3282950" algn="l"/>
                <a:tab pos="3938588" algn="l"/>
                <a:tab pos="4595813" algn="l"/>
                <a:tab pos="5253038" algn="l"/>
                <a:tab pos="5908675" algn="l"/>
                <a:tab pos="6565900" algn="l"/>
                <a:tab pos="722312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2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Patient Record (Profile) Information: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22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Patient Name. Andy Davis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22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Gender: F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22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Age: 55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22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Allergies/sensitivity: No known allergies 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22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Medical History: </a:t>
            </a:r>
            <a:r>
              <a:rPr lang="en-US" altLang="en-US" sz="2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Osteoarthritis</a:t>
            </a:r>
            <a:r>
              <a:rPr lang="en-US" altLang="en-US" sz="22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, Hypertension, Hyperlipidemia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en-US" sz="2200">
              <a:solidFill>
                <a:srgbClr val="000000"/>
              </a:solidFill>
              <a:latin typeface="Arial" panose="020B0604020202020204" pitchFamily="34" charset="0"/>
              <a:ea typeface="MS PGothic" panose="020B0600070205080204" pitchFamily="34" charset="-128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en-US" sz="2200">
              <a:solidFill>
                <a:srgbClr val="000000"/>
              </a:solidFill>
              <a:latin typeface="Arial" panose="020B0604020202020204" pitchFamily="34" charset="0"/>
              <a:ea typeface="MS PGothic" panose="020B0600070205080204" pitchFamily="34" charset="-128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en-US" sz="2200">
              <a:solidFill>
                <a:srgbClr val="000000"/>
              </a:solidFill>
              <a:latin typeface="Arial" panose="020B0604020202020204" pitchFamily="34" charset="0"/>
              <a:ea typeface="MS PGothic" panose="020B0600070205080204" pitchFamily="34" charset="-128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en-US" sz="2200">
              <a:solidFill>
                <a:srgbClr val="000000"/>
              </a:solidFill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graphicFrame>
        <p:nvGraphicFramePr>
          <p:cNvPr id="4098" name="Group 2"/>
          <p:cNvGraphicFramePr>
            <a:graphicFrameLocks noGrp="1"/>
          </p:cNvGraphicFramePr>
          <p:nvPr/>
        </p:nvGraphicFramePr>
        <p:xfrm>
          <a:off x="1149350" y="3141663"/>
          <a:ext cx="10167937" cy="2832101"/>
        </p:xfrm>
        <a:graphic>
          <a:graphicData uri="http://schemas.openxmlformats.org/drawingml/2006/table">
            <a:tbl>
              <a:tblPr/>
              <a:tblGrid>
                <a:gridCol w="22834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710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733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400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44488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0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charset="0"/>
                        <a:buNone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  <a:tab pos="6515100" algn="l"/>
                          <a:tab pos="7239000" algn="l"/>
                          <a:tab pos="7962900" algn="l"/>
                        </a:tabLst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Microsoft YaHei" charset="0"/>
                          <a:cs typeface="Microsoft YaHei" charset="0"/>
                        </a:rPr>
                        <a:t>Fill Date</a:t>
                      </a:r>
                    </a:p>
                  </a:txBody>
                  <a:tcPr marL="81637" marR="81637" marT="56853" marB="42453" horzOverflow="overflow">
                    <a:lnL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0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charset="0"/>
                        <a:buNone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  <a:tab pos="6515100" algn="l"/>
                          <a:tab pos="7239000" algn="l"/>
                          <a:tab pos="7962900" algn="l"/>
                        </a:tabLst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Microsoft YaHei" charset="0"/>
                          <a:cs typeface="Microsoft YaHei" charset="0"/>
                        </a:rPr>
                        <a:t>Medication</a:t>
                      </a:r>
                    </a:p>
                  </a:txBody>
                  <a:tcPr marL="81637" marR="81637" marT="56853" marB="42453" horzOverflow="overflow">
                    <a:lnL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0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charset="0"/>
                        <a:buNone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  <a:tab pos="6515100" algn="l"/>
                          <a:tab pos="7239000" algn="l"/>
                          <a:tab pos="7962900" algn="l"/>
                        </a:tabLst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Microsoft YaHei" charset="0"/>
                          <a:cs typeface="Microsoft YaHei" charset="0"/>
                        </a:rPr>
                        <a:t>Dispensed qty</a:t>
                      </a:r>
                    </a:p>
                  </a:txBody>
                  <a:tcPr marL="81637" marR="81637" marT="56853" marB="42453" horzOverflow="overflow">
                    <a:lnL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0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charset="0"/>
                        <a:buNone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  <a:tab pos="6515100" algn="l"/>
                          <a:tab pos="7239000" algn="l"/>
                          <a:tab pos="7962900" algn="l"/>
                        </a:tabLst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Microsoft YaHei" charset="0"/>
                          <a:cs typeface="Microsoft YaHei" charset="0"/>
                        </a:rPr>
                        <a:t>Direction </a:t>
                      </a:r>
                    </a:p>
                  </a:txBody>
                  <a:tcPr marL="81637" marR="81637" marT="56853" marB="42453" horzOverflow="overflow">
                    <a:lnL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4488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0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charset="0"/>
                        <a:buNone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  <a:tab pos="6515100" algn="l"/>
                          <a:tab pos="7239000" algn="l"/>
                          <a:tab pos="7962900" algn="l"/>
                        </a:tabLst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Microsoft YaHei" charset="0"/>
                          <a:cs typeface="Microsoft YaHei" charset="0"/>
                        </a:rPr>
                        <a:t>30/04/0000</a:t>
                      </a:r>
                    </a:p>
                  </a:txBody>
                  <a:tcPr marL="81637" marR="81637" marT="56853" marB="42453" horzOverflow="overflow">
                    <a:lnL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0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charset="0"/>
                        <a:buNone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  <a:tab pos="6515100" algn="l"/>
                          <a:tab pos="7239000" algn="l"/>
                          <a:tab pos="7962900" algn="l"/>
                        </a:tabLst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Microsoft YaHei" charset="0"/>
                          <a:cs typeface="Microsoft YaHei" charset="0"/>
                        </a:rPr>
                        <a:t>Naproxen 275mg</a:t>
                      </a:r>
                    </a:p>
                  </a:txBody>
                  <a:tcPr marL="81637" marR="81637" marT="56853" marB="42453" horzOverflow="overflow">
                    <a:lnL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0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charset="0"/>
                        <a:buNone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  <a:tab pos="6515100" algn="l"/>
                          <a:tab pos="7239000" algn="l"/>
                          <a:tab pos="7962900" algn="l"/>
                        </a:tabLst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Microsoft YaHei" charset="0"/>
                          <a:cs typeface="Microsoft YaHei" charset="0"/>
                        </a:rPr>
                        <a:t>60 tablets</a:t>
                      </a:r>
                    </a:p>
                  </a:txBody>
                  <a:tcPr marL="81637" marR="81637" marT="56853" marB="42453" horzOverflow="overflow">
                    <a:lnL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0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charset="0"/>
                        <a:buNone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  <a:tab pos="6515100" algn="l"/>
                          <a:tab pos="7239000" algn="l"/>
                          <a:tab pos="7962900" algn="l"/>
                        </a:tabLst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Microsoft YaHei" charset="0"/>
                          <a:cs typeface="Microsoft YaHei" charset="0"/>
                        </a:rPr>
                        <a:t>1 tablet twice daily</a:t>
                      </a:r>
                    </a:p>
                  </a:txBody>
                  <a:tcPr marL="81637" marR="81637" marT="56853" marB="42453" horzOverflow="overflow">
                    <a:lnL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3543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0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charset="0"/>
                        <a:buNone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  <a:tab pos="6515100" algn="l"/>
                          <a:tab pos="7239000" algn="l"/>
                          <a:tab pos="7962900" algn="l"/>
                        </a:tabLst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Microsoft YaHei" charset="0"/>
                          <a:cs typeface="Microsoft YaHei" charset="0"/>
                        </a:rPr>
                        <a:t>12/04/0000</a:t>
                      </a:r>
                    </a:p>
                  </a:txBody>
                  <a:tcPr marL="81637" marR="81637" marT="56853" marB="42453" horzOverflow="overflow">
                    <a:lnL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0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charset="0"/>
                        <a:buNone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  <a:tab pos="6515100" algn="l"/>
                          <a:tab pos="7239000" algn="l"/>
                          <a:tab pos="7962900" algn="l"/>
                        </a:tabLst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Microsoft YaHei" charset="0"/>
                          <a:cs typeface="Microsoft YaHei" charset="0"/>
                        </a:rPr>
                        <a:t>Metoprolol 50mg</a:t>
                      </a:r>
                    </a:p>
                  </a:txBody>
                  <a:tcPr marL="81637" marR="81637" marT="56853" marB="42453" horzOverflow="overflow">
                    <a:lnL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0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charset="0"/>
                        <a:buNone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  <a:tab pos="6515100" algn="l"/>
                          <a:tab pos="7239000" algn="l"/>
                          <a:tab pos="7962900" algn="l"/>
                        </a:tabLst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Microsoft YaHei" charset="0"/>
                          <a:cs typeface="Microsoft YaHei" charset="0"/>
                        </a:rPr>
                        <a:t>90 tablets</a:t>
                      </a:r>
                    </a:p>
                  </a:txBody>
                  <a:tcPr marL="81637" marR="81637" marT="56853" marB="42453" horzOverflow="overflow">
                    <a:lnL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0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charset="0"/>
                        <a:buNone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  <a:tab pos="6515100" algn="l"/>
                          <a:tab pos="7239000" algn="l"/>
                          <a:tab pos="7962900" algn="l"/>
                        </a:tabLst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Microsoft YaHei" charset="0"/>
                          <a:cs typeface="Microsoft YaHei" charset="0"/>
                        </a:rPr>
                        <a:t>1 tablet twice daily</a:t>
                      </a:r>
                    </a:p>
                  </a:txBody>
                  <a:tcPr marL="81637" marR="81637" marT="56853" marB="42453" horzOverflow="overflow">
                    <a:lnL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9582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0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charset="0"/>
                        <a:buNone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  <a:tab pos="6515100" algn="l"/>
                          <a:tab pos="7239000" algn="l"/>
                          <a:tab pos="7962900" algn="l"/>
                        </a:tabLst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Microsoft YaHei" charset="0"/>
                          <a:cs typeface="Microsoft YaHei" charset="0"/>
                        </a:rPr>
                        <a:t>12/04/0000</a:t>
                      </a:r>
                    </a:p>
                  </a:txBody>
                  <a:tcPr marL="81637" marR="81637" marT="56853" marB="42453" horzOverflow="overflow">
                    <a:lnL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0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charset="0"/>
                        <a:buNone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  <a:tab pos="6515100" algn="l"/>
                          <a:tab pos="7239000" algn="l"/>
                          <a:tab pos="7962900" algn="l"/>
                        </a:tabLst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Microsoft YaHei" charset="0"/>
                          <a:cs typeface="Microsoft YaHei" charset="0"/>
                        </a:rPr>
                        <a:t>Rosuvastatin 5mg</a:t>
                      </a:r>
                    </a:p>
                  </a:txBody>
                  <a:tcPr marL="81637" marR="81637" marT="56853" marB="42453" horzOverflow="overflow">
                    <a:lnL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0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charset="0"/>
                        <a:buNone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  <a:tab pos="6515100" algn="l"/>
                          <a:tab pos="7239000" algn="l"/>
                          <a:tab pos="7962900" algn="l"/>
                        </a:tabLst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Microsoft YaHei" charset="0"/>
                          <a:cs typeface="Microsoft YaHei" charset="0"/>
                        </a:rPr>
                        <a:t>90 tablets</a:t>
                      </a:r>
                    </a:p>
                  </a:txBody>
                  <a:tcPr marL="81637" marR="81637" marT="56853" marB="42453" horzOverflow="overflow">
                    <a:lnL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0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charset="0"/>
                        <a:buNone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  <a:tab pos="6515100" algn="l"/>
                          <a:tab pos="7239000" algn="l"/>
                          <a:tab pos="7962900" algn="l"/>
                        </a:tabLst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Microsoft YaHei" charset="0"/>
                          <a:cs typeface="Microsoft YaHei" charset="0"/>
                        </a:rPr>
                        <a:t>1 tablet twice daily</a:t>
                      </a:r>
                    </a:p>
                    <a:p>
                      <a:pPr marL="0" marR="0" lvl="0" indent="0" algn="l" defTabSz="457200" rtl="0" eaLnBrk="1" fontAlgn="base" latinLnBrk="0" hangingPunct="0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charset="0"/>
                        <a:buNone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  <a:tab pos="6515100" algn="l"/>
                          <a:tab pos="7239000" algn="l"/>
                          <a:tab pos="7962900" algn="l"/>
                        </a:tabLst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81637" marR="81637" marT="56853" marB="42453" horzOverflow="overflow">
                    <a:lnL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8729374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ext Box 1"/>
          <p:cNvSpPr txBox="1">
            <a:spLocks noChangeArrowheads="1"/>
          </p:cNvSpPr>
          <p:nvPr/>
        </p:nvSpPr>
        <p:spPr bwMode="auto">
          <a:xfrm>
            <a:off x="3514725" y="1709738"/>
            <a:ext cx="5473700" cy="3019425"/>
          </a:xfrm>
          <a:prstGeom prst="rect">
            <a:avLst/>
          </a:prstGeom>
          <a:noFill/>
          <a:ln w="936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81639" tIns="55188" rIns="81639" bIns="40820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tabLst>
                <a:tab pos="655638" algn="l"/>
                <a:tab pos="1312863" algn="l"/>
                <a:tab pos="1968500" algn="l"/>
                <a:tab pos="2625725" algn="l"/>
                <a:tab pos="3282950" algn="l"/>
                <a:tab pos="3938588" algn="l"/>
                <a:tab pos="4595813" algn="l"/>
                <a:tab pos="5253038" algn="l"/>
              </a:tabLst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655638" algn="l"/>
                <a:tab pos="1312863" algn="l"/>
                <a:tab pos="1968500" algn="l"/>
                <a:tab pos="2625725" algn="l"/>
                <a:tab pos="3282950" algn="l"/>
                <a:tab pos="3938588" algn="l"/>
                <a:tab pos="4595813" algn="l"/>
                <a:tab pos="5253038" algn="l"/>
              </a:tabLst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655638" algn="l"/>
                <a:tab pos="1312863" algn="l"/>
                <a:tab pos="1968500" algn="l"/>
                <a:tab pos="2625725" algn="l"/>
                <a:tab pos="3282950" algn="l"/>
                <a:tab pos="3938588" algn="l"/>
                <a:tab pos="4595813" algn="l"/>
                <a:tab pos="5253038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655638" algn="l"/>
                <a:tab pos="1312863" algn="l"/>
                <a:tab pos="1968500" algn="l"/>
                <a:tab pos="2625725" algn="l"/>
                <a:tab pos="3282950" algn="l"/>
                <a:tab pos="3938588" algn="l"/>
                <a:tab pos="4595813" algn="l"/>
                <a:tab pos="5253038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655638" algn="l"/>
                <a:tab pos="1312863" algn="l"/>
                <a:tab pos="1968500" algn="l"/>
                <a:tab pos="2625725" algn="l"/>
                <a:tab pos="3282950" algn="l"/>
                <a:tab pos="3938588" algn="l"/>
                <a:tab pos="4595813" algn="l"/>
                <a:tab pos="5253038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655638" algn="l"/>
                <a:tab pos="1312863" algn="l"/>
                <a:tab pos="1968500" algn="l"/>
                <a:tab pos="2625725" algn="l"/>
                <a:tab pos="3282950" algn="l"/>
                <a:tab pos="3938588" algn="l"/>
                <a:tab pos="4595813" algn="l"/>
                <a:tab pos="5253038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655638" algn="l"/>
                <a:tab pos="1312863" algn="l"/>
                <a:tab pos="1968500" algn="l"/>
                <a:tab pos="2625725" algn="l"/>
                <a:tab pos="3282950" algn="l"/>
                <a:tab pos="3938588" algn="l"/>
                <a:tab pos="4595813" algn="l"/>
                <a:tab pos="5253038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655638" algn="l"/>
                <a:tab pos="1312863" algn="l"/>
                <a:tab pos="1968500" algn="l"/>
                <a:tab pos="2625725" algn="l"/>
                <a:tab pos="3282950" algn="l"/>
                <a:tab pos="3938588" algn="l"/>
                <a:tab pos="4595813" algn="l"/>
                <a:tab pos="5253038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655638" algn="l"/>
                <a:tab pos="1312863" algn="l"/>
                <a:tab pos="1968500" algn="l"/>
                <a:tab pos="2625725" algn="l"/>
                <a:tab pos="3282950" algn="l"/>
                <a:tab pos="3938588" algn="l"/>
                <a:tab pos="4595813" algn="l"/>
                <a:tab pos="5253038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Current date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Andy Davis				Age: 55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en-US" sz="1800">
              <a:solidFill>
                <a:srgbClr val="000000"/>
              </a:solidFill>
              <a:latin typeface="Arial" panose="020B0604020202020204" pitchFamily="34" charset="0"/>
              <a:ea typeface="MS PGothic" panose="020B0600070205080204" pitchFamily="34" charset="-128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Rx: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Vimovo 375/20 mg BID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Mitte:30 tablets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en-US" sz="1800">
              <a:solidFill>
                <a:srgbClr val="000000"/>
              </a:solidFill>
              <a:latin typeface="Arial" panose="020B0604020202020204" pitchFamily="34" charset="0"/>
              <a:ea typeface="MS PGothic" panose="020B0600070205080204" pitchFamily="34" charset="-128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en-US" sz="1800">
              <a:solidFill>
                <a:srgbClr val="000000"/>
              </a:solidFill>
              <a:latin typeface="Arial" panose="020B0604020202020204" pitchFamily="34" charset="0"/>
              <a:ea typeface="MS PGothic" panose="020B0600070205080204" pitchFamily="34" charset="-128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R: 2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en-US" sz="1800">
              <a:solidFill>
                <a:srgbClr val="000000"/>
              </a:solidFill>
              <a:latin typeface="Arial" panose="020B0604020202020204" pitchFamily="34" charset="0"/>
              <a:ea typeface="MS PGothic" panose="020B0600070205080204" pitchFamily="34" charset="-128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en-US" sz="1800">
              <a:solidFill>
                <a:srgbClr val="000000"/>
              </a:solidFill>
              <a:latin typeface="Arial" panose="020B0604020202020204" pitchFamily="34" charset="0"/>
              <a:ea typeface="MS PGothic" panose="020B0600070205080204" pitchFamily="34" charset="-128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Dr. E. Zurg	</a:t>
            </a:r>
          </a:p>
        </p:txBody>
      </p:sp>
      <p:sp>
        <p:nvSpPr>
          <p:cNvPr id="19459" name="Text Box 2"/>
          <p:cNvSpPr txBox="1">
            <a:spLocks noChangeArrowheads="1"/>
          </p:cNvSpPr>
          <p:nvPr/>
        </p:nvSpPr>
        <p:spPr bwMode="auto">
          <a:xfrm>
            <a:off x="6750050" y="3916363"/>
            <a:ext cx="2073275" cy="646112"/>
          </a:xfrm>
          <a:prstGeom prst="rect">
            <a:avLst/>
          </a:prstGeom>
          <a:noFill/>
          <a:ln w="936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81639" tIns="55188" rIns="81639" bIns="40820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tabLst>
                <a:tab pos="655638" algn="l"/>
                <a:tab pos="1312863" algn="l"/>
                <a:tab pos="1968500" algn="l"/>
              </a:tabLst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655638" algn="l"/>
                <a:tab pos="1312863" algn="l"/>
                <a:tab pos="1968500" algn="l"/>
              </a:tabLst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655638" algn="l"/>
                <a:tab pos="1312863" algn="l"/>
                <a:tab pos="19685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655638" algn="l"/>
                <a:tab pos="1312863" algn="l"/>
                <a:tab pos="196850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655638" algn="l"/>
                <a:tab pos="1312863" algn="l"/>
                <a:tab pos="196850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655638" algn="l"/>
                <a:tab pos="1312863" algn="l"/>
                <a:tab pos="196850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655638" algn="l"/>
                <a:tab pos="1312863" algn="l"/>
                <a:tab pos="196850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655638" algn="l"/>
                <a:tab pos="1312863" algn="l"/>
                <a:tab pos="196850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655638" algn="l"/>
                <a:tab pos="1312863" algn="l"/>
                <a:tab pos="196850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Treat Dr's sig as original</a:t>
            </a:r>
          </a:p>
        </p:txBody>
      </p:sp>
    </p:spTree>
    <p:extLst>
      <p:ext uri="{BB962C8B-B14F-4D97-AF65-F5344CB8AC3E}">
        <p14:creationId xmlns:p14="http://schemas.microsoft.com/office/powerpoint/2010/main" val="396442764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ext Box 1"/>
          <p:cNvSpPr txBox="1">
            <a:spLocks noChangeArrowheads="1"/>
          </p:cNvSpPr>
          <p:nvPr/>
        </p:nvSpPr>
        <p:spPr bwMode="auto">
          <a:xfrm>
            <a:off x="814388" y="333375"/>
            <a:ext cx="10561637" cy="5857875"/>
          </a:xfrm>
          <a:prstGeom prst="rect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81639" tIns="56821" rIns="81639" bIns="40820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tabLst>
                <a:tab pos="655638" algn="l"/>
                <a:tab pos="1312863" algn="l"/>
                <a:tab pos="1968500" algn="l"/>
                <a:tab pos="2625725" algn="l"/>
                <a:tab pos="3282950" algn="l"/>
                <a:tab pos="3938588" algn="l"/>
                <a:tab pos="4595813" algn="l"/>
                <a:tab pos="5253038" algn="l"/>
                <a:tab pos="5908675" algn="l"/>
                <a:tab pos="6565900" algn="l"/>
                <a:tab pos="7223125" algn="l"/>
                <a:tab pos="7878763" algn="l"/>
              </a:tabLst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655638" algn="l"/>
                <a:tab pos="1312863" algn="l"/>
                <a:tab pos="1968500" algn="l"/>
                <a:tab pos="2625725" algn="l"/>
                <a:tab pos="3282950" algn="l"/>
                <a:tab pos="3938588" algn="l"/>
                <a:tab pos="4595813" algn="l"/>
                <a:tab pos="5253038" algn="l"/>
                <a:tab pos="5908675" algn="l"/>
                <a:tab pos="6565900" algn="l"/>
                <a:tab pos="7223125" algn="l"/>
                <a:tab pos="7878763" algn="l"/>
              </a:tabLst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655638" algn="l"/>
                <a:tab pos="1312863" algn="l"/>
                <a:tab pos="1968500" algn="l"/>
                <a:tab pos="2625725" algn="l"/>
                <a:tab pos="3282950" algn="l"/>
                <a:tab pos="3938588" algn="l"/>
                <a:tab pos="4595813" algn="l"/>
                <a:tab pos="5253038" algn="l"/>
                <a:tab pos="5908675" algn="l"/>
                <a:tab pos="6565900" algn="l"/>
                <a:tab pos="7223125" algn="l"/>
                <a:tab pos="7878763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655638" algn="l"/>
                <a:tab pos="1312863" algn="l"/>
                <a:tab pos="1968500" algn="l"/>
                <a:tab pos="2625725" algn="l"/>
                <a:tab pos="3282950" algn="l"/>
                <a:tab pos="3938588" algn="l"/>
                <a:tab pos="4595813" algn="l"/>
                <a:tab pos="5253038" algn="l"/>
                <a:tab pos="5908675" algn="l"/>
                <a:tab pos="6565900" algn="l"/>
                <a:tab pos="7223125" algn="l"/>
                <a:tab pos="787876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655638" algn="l"/>
                <a:tab pos="1312863" algn="l"/>
                <a:tab pos="1968500" algn="l"/>
                <a:tab pos="2625725" algn="l"/>
                <a:tab pos="3282950" algn="l"/>
                <a:tab pos="3938588" algn="l"/>
                <a:tab pos="4595813" algn="l"/>
                <a:tab pos="5253038" algn="l"/>
                <a:tab pos="5908675" algn="l"/>
                <a:tab pos="6565900" algn="l"/>
                <a:tab pos="7223125" algn="l"/>
                <a:tab pos="787876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655638" algn="l"/>
                <a:tab pos="1312863" algn="l"/>
                <a:tab pos="1968500" algn="l"/>
                <a:tab pos="2625725" algn="l"/>
                <a:tab pos="3282950" algn="l"/>
                <a:tab pos="3938588" algn="l"/>
                <a:tab pos="4595813" algn="l"/>
                <a:tab pos="5253038" algn="l"/>
                <a:tab pos="5908675" algn="l"/>
                <a:tab pos="6565900" algn="l"/>
                <a:tab pos="7223125" algn="l"/>
                <a:tab pos="787876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655638" algn="l"/>
                <a:tab pos="1312863" algn="l"/>
                <a:tab pos="1968500" algn="l"/>
                <a:tab pos="2625725" algn="l"/>
                <a:tab pos="3282950" algn="l"/>
                <a:tab pos="3938588" algn="l"/>
                <a:tab pos="4595813" algn="l"/>
                <a:tab pos="5253038" algn="l"/>
                <a:tab pos="5908675" algn="l"/>
                <a:tab pos="6565900" algn="l"/>
                <a:tab pos="7223125" algn="l"/>
                <a:tab pos="787876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655638" algn="l"/>
                <a:tab pos="1312863" algn="l"/>
                <a:tab pos="1968500" algn="l"/>
                <a:tab pos="2625725" algn="l"/>
                <a:tab pos="3282950" algn="l"/>
                <a:tab pos="3938588" algn="l"/>
                <a:tab pos="4595813" algn="l"/>
                <a:tab pos="5253038" algn="l"/>
                <a:tab pos="5908675" algn="l"/>
                <a:tab pos="6565900" algn="l"/>
                <a:tab pos="7223125" algn="l"/>
                <a:tab pos="787876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655638" algn="l"/>
                <a:tab pos="1312863" algn="l"/>
                <a:tab pos="1968500" algn="l"/>
                <a:tab pos="2625725" algn="l"/>
                <a:tab pos="3282950" algn="l"/>
                <a:tab pos="3938588" algn="l"/>
                <a:tab pos="4595813" algn="l"/>
                <a:tab pos="5253038" algn="l"/>
                <a:tab pos="5908675" algn="l"/>
                <a:tab pos="6565900" algn="l"/>
                <a:tab pos="7223125" algn="l"/>
                <a:tab pos="787876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SP instructions: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SzPct val="45000"/>
              <a:buFont typeface="Wingdings" panose="05000000000000000000" pitchFamily="2" charset="2"/>
              <a:buChar char=""/>
            </a:pPr>
            <a:r>
              <a:rPr lang="en-US" altLang="en-US" sz="18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SP's opening statement: </a:t>
            </a:r>
            <a:r>
              <a:rPr lang="ja-JP" altLang="en-US" sz="18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“</a:t>
            </a:r>
            <a:r>
              <a:rPr lang="en-US" altLang="ja-JP" sz="18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Hi I came to pick up my new medicaton</a:t>
            </a:r>
            <a:r>
              <a:rPr lang="ja-JP" altLang="en-US" sz="18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”</a:t>
            </a:r>
            <a:endParaRPr lang="en-US" altLang="ja-JP" sz="1800">
              <a:solidFill>
                <a:srgbClr val="000000"/>
              </a:solidFill>
              <a:latin typeface="Arial" panose="020B0604020202020204" pitchFamily="34" charset="0"/>
              <a:ea typeface="MS PGothic" panose="020B0600070205080204" pitchFamily="34" charset="-128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SzPct val="45000"/>
              <a:buFontTx/>
              <a:buNone/>
            </a:pPr>
            <a:endParaRPr lang="en-US" altLang="en-US" sz="1800">
              <a:solidFill>
                <a:srgbClr val="000000"/>
              </a:solidFill>
              <a:latin typeface="Arial" panose="020B0604020202020204" pitchFamily="34" charset="0"/>
              <a:ea typeface="MS PGothic" panose="020B0600070205080204" pitchFamily="34" charset="-128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Information to be provided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SzPct val="45000"/>
              <a:buFont typeface="Wingdings" panose="05000000000000000000" pitchFamily="2" charset="2"/>
              <a:buChar char=""/>
            </a:pPr>
            <a:r>
              <a:rPr lang="en-US" altLang="en-US" sz="18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Cholesterol and hypertension are well controlled – BP was 135/85mmHg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SzPct val="45000"/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yesterday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SzPct val="45000"/>
              <a:buFont typeface="Wingdings" panose="05000000000000000000" pitchFamily="2" charset="2"/>
              <a:buChar char=""/>
            </a:pPr>
            <a:r>
              <a:rPr lang="en-US" altLang="en-US" sz="18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Lifestyle: does not like dairy, does not exercise very much because of knee pain, Alcohol: Occasional beer, Caffeine: 2 coffees/day, Diet: eats fast food (and is </a:t>
            </a:r>
            <a:r>
              <a:rPr lang="ja-JP" altLang="en-US" sz="18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“</a:t>
            </a:r>
            <a:r>
              <a:rPr lang="en-US" altLang="ja-JP" sz="18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a little overweight</a:t>
            </a:r>
            <a:r>
              <a:rPr lang="ja-JP" altLang="en-US" sz="18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”</a:t>
            </a:r>
            <a:r>
              <a:rPr lang="en-US" altLang="ja-JP" sz="18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)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SzPct val="45000"/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If candidate asks: why did u go to the doctor say: well my arthritis is really bad. The pain medication I have been taking is not helping with pain much and plus it gives a lot of heart burn.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SzPct val="45000"/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Allergy: ASA(aspirin) upset stomach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SzPct val="45000"/>
              <a:buFont typeface="Wingdings" panose="05000000000000000000" pitchFamily="2" charset="2"/>
              <a:buChar char=""/>
            </a:pPr>
            <a:r>
              <a:rPr lang="en-US" altLang="en-US" sz="18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If Candidate asks why is switching from naproxen to Vimovo → SP: </a:t>
            </a:r>
            <a:r>
              <a:rPr lang="ja-JP" altLang="en-US" sz="18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“</a:t>
            </a:r>
            <a:r>
              <a:rPr lang="en-US" altLang="ja-JP" sz="18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I wanted something a little stronger and the doctor says this new medication is better for the stomach. The naproxen giving me an upset stomach.</a:t>
            </a:r>
            <a:r>
              <a:rPr lang="ja-JP" altLang="en-US" sz="18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”</a:t>
            </a:r>
            <a:endParaRPr lang="en-US" altLang="ja-JP" sz="1800">
              <a:solidFill>
                <a:srgbClr val="000000"/>
              </a:solidFill>
              <a:latin typeface="Arial" panose="020B0604020202020204" pitchFamily="34" charset="0"/>
              <a:ea typeface="MS PGothic" panose="020B0600070205080204" pitchFamily="34" charset="-128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SzPct val="45000"/>
              <a:buFont typeface="Wingdings" panose="05000000000000000000" pitchFamily="2" charset="2"/>
              <a:buChar char=""/>
            </a:pPr>
            <a:r>
              <a:rPr lang="en-US" altLang="en-US" sz="18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If Candidate asks what he has tried before besides the naproxen → </a:t>
            </a:r>
            <a:r>
              <a:rPr lang="ja-JP" altLang="en-US" sz="18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“</a:t>
            </a:r>
            <a:r>
              <a:rPr lang="en-US" altLang="ja-JP" sz="18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I tired Tylenol before but it didn't help much.</a:t>
            </a:r>
            <a:r>
              <a:rPr lang="ja-JP" altLang="en-US" sz="18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”</a:t>
            </a:r>
            <a:endParaRPr lang="en-US" altLang="ja-JP" sz="1800">
              <a:solidFill>
                <a:srgbClr val="000000"/>
              </a:solidFill>
              <a:latin typeface="Arial" panose="020B0604020202020204" pitchFamily="34" charset="0"/>
              <a:ea typeface="MS PGothic" panose="020B0600070205080204" pitchFamily="34" charset="-128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SzPct val="45000"/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If asked by candidate: do you have any concerns?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SzPct val="45000"/>
              <a:buFont typeface="Wingdings" panose="05000000000000000000" pitchFamily="2" charset="2"/>
              <a:buChar char=""/>
            </a:pPr>
            <a:r>
              <a:rPr lang="en-US" altLang="en-US" sz="18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SP: </a:t>
            </a:r>
            <a:r>
              <a:rPr lang="ja-JP" altLang="en-US" sz="18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“</a:t>
            </a:r>
            <a:r>
              <a:rPr lang="en-US" altLang="ja-JP" sz="18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Do I take it with or without food?</a:t>
            </a:r>
            <a:r>
              <a:rPr lang="ja-JP" altLang="en-US" sz="18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”</a:t>
            </a:r>
            <a:endParaRPr lang="en-US" altLang="ja-JP" sz="1800">
              <a:solidFill>
                <a:srgbClr val="000000"/>
              </a:solidFill>
              <a:latin typeface="Arial" panose="020B0604020202020204" pitchFamily="34" charset="0"/>
              <a:ea typeface="MS PGothic" panose="020B0600070205080204" pitchFamily="34" charset="-128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SzPct val="45000"/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Closing line: </a:t>
            </a:r>
            <a:r>
              <a:rPr lang="ja-JP" altLang="en-US" sz="18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“</a:t>
            </a:r>
            <a:r>
              <a:rPr lang="en-US" altLang="ja-JP" sz="18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Thank you.</a:t>
            </a:r>
            <a:r>
              <a:rPr lang="ja-JP" altLang="en-US" sz="18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”</a:t>
            </a:r>
            <a:endParaRPr lang="en-CA" altLang="ja-JP" sz="1800">
              <a:solidFill>
                <a:srgbClr val="000000"/>
              </a:solidFill>
              <a:latin typeface="Arial" panose="020B0604020202020204" pitchFamily="34" charset="0"/>
              <a:ea typeface="MS PGothic" panose="020B0600070205080204" pitchFamily="34" charset="-128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SzPct val="45000"/>
              <a:buFontTx/>
              <a:buNone/>
            </a:pPr>
            <a:r>
              <a:rPr lang="en-CA" altLang="en-US" sz="18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Sp at 6 mins: do I still finish off what I have at home of naproxen and then start this?</a:t>
            </a:r>
            <a:endParaRPr lang="en-US" altLang="en-US" sz="1800">
              <a:solidFill>
                <a:srgbClr val="000000"/>
              </a:solidFill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39504782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altLang="en-US" smtClean="0"/>
              <a:t>Solution</a:t>
            </a:r>
          </a:p>
        </p:txBody>
      </p:sp>
      <p:sp>
        <p:nvSpPr>
          <p:cNvPr id="23555" name="Content Placeholder 2"/>
          <p:cNvSpPr>
            <a:spLocks noGrp="1"/>
          </p:cNvSpPr>
          <p:nvPr>
            <p:ph idx="1"/>
          </p:nvPr>
        </p:nvSpPr>
        <p:spPr>
          <a:xfrm>
            <a:off x="838200" y="1439863"/>
            <a:ext cx="10515600" cy="4351337"/>
          </a:xfrm>
        </p:spPr>
        <p:txBody>
          <a:bodyPr/>
          <a:lstStyle/>
          <a:p>
            <a:r>
              <a:rPr lang="en-CA" altLang="en-US" smtClean="0">
                <a:latin typeface="Arial" panose="020B0604020202020204" pitchFamily="34" charset="0"/>
                <a:cs typeface="Arial" panose="020B0604020202020204" pitchFamily="34" charset="0"/>
              </a:rPr>
              <a:t>Gather the patient’s current medication information.</a:t>
            </a:r>
          </a:p>
          <a:p>
            <a:r>
              <a:rPr lang="en-CA" altLang="en-US" smtClean="0">
                <a:latin typeface="Arial" panose="020B0604020202020204" pitchFamily="34" charset="0"/>
                <a:cs typeface="Arial" panose="020B0604020202020204" pitchFamily="34" charset="0"/>
              </a:rPr>
              <a:t>Confirm any updates on allergies.</a:t>
            </a:r>
          </a:p>
          <a:p>
            <a:r>
              <a:rPr lang="en-CA" altLang="en-US" smtClean="0">
                <a:latin typeface="Arial" panose="020B0604020202020204" pitchFamily="34" charset="0"/>
                <a:cs typeface="Arial" panose="020B0604020202020204" pitchFamily="34" charset="0"/>
              </a:rPr>
              <a:t>Any additional prescription or non-prescription drugs?</a:t>
            </a:r>
          </a:p>
          <a:p>
            <a:r>
              <a:rPr lang="en-CA" altLang="en-US" smtClean="0">
                <a:latin typeface="Arial" panose="020B0604020202020204" pitchFamily="34" charset="0"/>
                <a:cs typeface="Arial" panose="020B0604020202020204" pitchFamily="34" charset="0"/>
              </a:rPr>
              <a:t>Any supplements or herbal products?</a:t>
            </a:r>
          </a:p>
          <a:p>
            <a:r>
              <a:rPr lang="en-CA" altLang="en-US" smtClean="0">
                <a:latin typeface="Arial" panose="020B0604020202020204" pitchFamily="34" charset="0"/>
                <a:cs typeface="Arial" panose="020B0604020202020204" pitchFamily="34" charset="0"/>
              </a:rPr>
              <a:t>What did the doctor tell you about this new medication?</a:t>
            </a:r>
          </a:p>
          <a:p>
            <a:r>
              <a:rPr lang="en-CA" altLang="en-US" smtClean="0">
                <a:latin typeface="Arial" panose="020B0604020202020204" pitchFamily="34" charset="0"/>
                <a:cs typeface="Arial" panose="020B0604020202020204" pitchFamily="34" charset="0"/>
              </a:rPr>
              <a:t>Did the doctor tell you to stop Naproxen?</a:t>
            </a:r>
          </a:p>
          <a:p>
            <a:r>
              <a:rPr lang="en-CA" altLang="en-US" smtClean="0">
                <a:latin typeface="Arial" panose="020B0604020202020204" pitchFamily="34" charset="0"/>
                <a:cs typeface="Arial" panose="020B0604020202020204" pitchFamily="34" charset="0"/>
              </a:rPr>
              <a:t>Check if the patient blood pressure is controlled.</a:t>
            </a:r>
          </a:p>
          <a:p>
            <a:r>
              <a:rPr lang="en-CA" altLang="en-US" smtClean="0">
                <a:latin typeface="Arial" panose="020B0604020202020204" pitchFamily="34" charset="0"/>
                <a:cs typeface="Arial" panose="020B0604020202020204" pitchFamily="34" charset="0"/>
              </a:rPr>
              <a:t>Any blood thinners?</a:t>
            </a:r>
          </a:p>
          <a:p>
            <a:endParaRPr lang="en-CA" altLang="en-US" smtClean="0"/>
          </a:p>
        </p:txBody>
      </p:sp>
    </p:spTree>
    <p:extLst>
      <p:ext uri="{BB962C8B-B14F-4D97-AF65-F5344CB8AC3E}">
        <p14:creationId xmlns:p14="http://schemas.microsoft.com/office/powerpoint/2010/main" val="35156146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169" name="Group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830587"/>
              </p:ext>
            </p:extLst>
          </p:nvPr>
        </p:nvGraphicFramePr>
        <p:xfrm>
          <a:off x="227013" y="176213"/>
          <a:ext cx="11853862" cy="6548438"/>
        </p:xfrm>
        <a:graphic>
          <a:graphicData uri="http://schemas.openxmlformats.org/drawingml/2006/table">
            <a:tbl>
              <a:tblPr/>
              <a:tblGrid>
                <a:gridCol w="12835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111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91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2659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charset="0"/>
                        <a:buNone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  <a:tab pos="6515100" algn="l"/>
                          <a:tab pos="7239000" algn="l"/>
                          <a:tab pos="7962900" algn="l"/>
                          <a:tab pos="8686800" algn="l"/>
                          <a:tab pos="9410700" algn="l"/>
                        </a:tabLst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charset="0"/>
                          <a:ea typeface="Microsoft YaHei" charset="0"/>
                          <a:cs typeface="Microsoft YaHei" charset="0"/>
                        </a:rPr>
                        <a:t>Grading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81643" marR="81643" marT="52736" marB="42451" horzOverflow="overflow">
                    <a:lnL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charset="0"/>
                        <a:buNone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  <a:tab pos="6515100" algn="l"/>
                          <a:tab pos="7239000" algn="l"/>
                          <a:tab pos="7962900" algn="l"/>
                          <a:tab pos="8686800" algn="l"/>
                          <a:tab pos="9410700" algn="l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charset="0"/>
                          <a:ea typeface="Microsoft YaHei" charset="0"/>
                          <a:cs typeface="Microsoft YaHei" charset="0"/>
                        </a:rPr>
                        <a:t>Problem Solved</a:t>
                      </a:r>
                    </a:p>
                  </a:txBody>
                  <a:tcPr marL="81643" marR="81643" marT="52736" marB="42451" horzOverflow="overflow">
                    <a:lnL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charset="0"/>
                        <a:buNone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  <a:tab pos="6515100" algn="l"/>
                          <a:tab pos="7239000" algn="l"/>
                          <a:tab pos="7962900" algn="l"/>
                          <a:tab pos="8686800" algn="l"/>
                          <a:tab pos="9410700" algn="l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charset="0"/>
                          <a:ea typeface="Microsoft YaHei" charset="0"/>
                          <a:cs typeface="Microsoft YaHei" charset="0"/>
                        </a:rPr>
                        <a:t>Grading</a:t>
                      </a:r>
                    </a:p>
                  </a:txBody>
                  <a:tcPr marL="81643" marR="81643" marT="52736" marB="42451" horzOverflow="overflow">
                    <a:lnL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76514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charset="0"/>
                        <a:buNone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  <a:tab pos="6515100" algn="l"/>
                          <a:tab pos="7239000" algn="l"/>
                          <a:tab pos="7962900" algn="l"/>
                          <a:tab pos="8686800" algn="l"/>
                          <a:tab pos="9410700" algn="l"/>
                        </a:tabLst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charset="0"/>
                          <a:ea typeface="Microsoft YaHei" charset="0"/>
                          <a:cs typeface="Microsoft YaHei" charset="0"/>
                        </a:rPr>
                        <a:t>Fully Solved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81643" marR="81643" marT="52736" marB="42451" horzOverflow="overflow">
                    <a:lnL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0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45000"/>
                        <a:buFont typeface="Wingdings" charset="0"/>
                        <a:buNone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  <a:tab pos="6515100" algn="l"/>
                          <a:tab pos="7239000" algn="l"/>
                          <a:tab pos="7962900" algn="l"/>
                          <a:tab pos="8686800" algn="l"/>
                          <a:tab pos="9410700" algn="l"/>
                        </a:tabLst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Microsoft YaHei" charset="0"/>
                          <a:cs typeface="Microsoft YaHei" charset="0"/>
                        </a:rPr>
                        <a:t>The doctor prescribed you </a:t>
                      </a:r>
                      <a:r>
                        <a:rPr kumimoji="0" lang="en-US" sz="1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Microsoft YaHei" charset="0"/>
                          <a:cs typeface="Microsoft YaHei" charset="0"/>
                        </a:rPr>
                        <a:t>Vimovo</a:t>
                      </a: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Microsoft YaHei" charset="0"/>
                          <a:cs typeface="Microsoft YaHei" charset="0"/>
                        </a:rPr>
                        <a:t> which contain 2 drugs (naproxen and esomeprazole) , 375 mg enteric coated naproxen and </a:t>
                      </a:r>
                      <a:r>
                        <a:rPr kumimoji="0" lang="en-US" sz="1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Microsoft YaHei" charset="0"/>
                          <a:cs typeface="Microsoft YaHei" charset="0"/>
                        </a:rPr>
                        <a:t>esomoperazole</a:t>
                      </a: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Microsoft YaHei" charset="0"/>
                          <a:cs typeface="Microsoft YaHei" charset="0"/>
                        </a:rPr>
                        <a:t> 20 mg immediate release table,  Take twice daily. </a:t>
                      </a:r>
                      <a:r>
                        <a:rPr kumimoji="0" lang="en-US" sz="1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Microsoft YaHei" charset="0"/>
                          <a:cs typeface="Microsoft YaHei" charset="0"/>
                        </a:rPr>
                        <a:t>Naproxex</a:t>
                      </a: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Microsoft YaHei" charset="0"/>
                          <a:cs typeface="Microsoft YaHei" charset="0"/>
                        </a:rPr>
                        <a:t> can give pain relief for 4 to 6 hours. Esomeprazole helps to protect GI irritation or ulcers. </a:t>
                      </a:r>
                    </a:p>
                    <a:p>
                      <a:pPr marL="0" marR="0" lvl="0" indent="0" algn="l" defTabSz="457200" rtl="0" eaLnBrk="1" fontAlgn="base" latinLnBrk="0" hangingPunct="0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45000"/>
                        <a:buFont typeface="Wingdings" charset="0"/>
                        <a:buNone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  <a:tab pos="6515100" algn="l"/>
                          <a:tab pos="7239000" algn="l"/>
                          <a:tab pos="7962900" algn="l"/>
                          <a:tab pos="8686800" algn="l"/>
                          <a:tab pos="9410700" algn="l"/>
                        </a:tabLst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Microsoft YaHei" charset="0"/>
                          <a:cs typeface="Microsoft YaHei" charset="0"/>
                        </a:rPr>
                        <a:t>So you stop using naproxen and start new medication which contain naproxen in it.</a:t>
                      </a:r>
                    </a:p>
                    <a:p>
                      <a:pPr marL="0" marR="0" lvl="0" indent="0" algn="l" defTabSz="457200" rtl="0" eaLnBrk="1" fontAlgn="base" latinLnBrk="0" hangingPunct="0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45000"/>
                        <a:buFont typeface="Wingdings" charset="0"/>
                        <a:buNone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  <a:tab pos="6515100" algn="l"/>
                          <a:tab pos="7239000" algn="l"/>
                          <a:tab pos="7962900" algn="l"/>
                          <a:tab pos="8686800" algn="l"/>
                          <a:tab pos="9410700" algn="l"/>
                        </a:tabLst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Microsoft YaHei" charset="0"/>
                          <a:cs typeface="Microsoft YaHei" charset="0"/>
                        </a:rPr>
                        <a:t>Take 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Microsoft YaHei" charset="0"/>
                          <a:cs typeface="Microsoft YaHei" charset="0"/>
                        </a:rPr>
                        <a:t>a least 30 minutes before meals, swallow whole)</a:t>
                      </a:r>
                    </a:p>
                    <a:p>
                      <a:pPr marL="0" marR="0" lvl="0" indent="0" algn="l" defTabSz="457200" rtl="0" eaLnBrk="1" fontAlgn="base" latinLnBrk="0" hangingPunct="0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45000"/>
                        <a:buFont typeface="Wingdings" charset="0"/>
                        <a:buNone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  <a:tab pos="6515100" algn="l"/>
                          <a:tab pos="7239000" algn="l"/>
                          <a:tab pos="7962900" algn="l"/>
                          <a:tab pos="8686800" algn="l"/>
                          <a:tab pos="9410700" algn="l"/>
                        </a:tabLst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Microsoft YaHei" charset="0"/>
                          <a:cs typeface="Microsoft YaHei" charset="0"/>
                        </a:rPr>
                        <a:t>Side </a:t>
                      </a: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Microsoft YaHei" charset="0"/>
                          <a:cs typeface="Microsoft YaHei" charset="0"/>
                        </a:rPr>
                        <a:t>effect: GI 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Microsoft YaHei" charset="0"/>
                          <a:cs typeface="Microsoft YaHei" charset="0"/>
                        </a:rPr>
                        <a:t>(dyspepsia, NVD GI bleed), CV events(MI stroke), fluid retention, hypertension),</a:t>
                      </a:r>
                    </a:p>
                    <a:p>
                      <a:pPr marL="0" marR="0" lvl="0" indent="0" algn="l" defTabSz="457200" rtl="0" eaLnBrk="1" fontAlgn="base" latinLnBrk="0" hangingPunct="0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45000"/>
                        <a:buFont typeface="Wingdings" charset="0"/>
                        <a:buNone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  <a:tab pos="6515100" algn="l"/>
                          <a:tab pos="7239000" algn="l"/>
                          <a:tab pos="7962900" algn="l"/>
                          <a:tab pos="8686800" algn="l"/>
                          <a:tab pos="9410700" algn="l"/>
                        </a:tabLst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Microsoft YaHei" charset="0"/>
                          <a:cs typeface="Microsoft YaHei" charset="0"/>
                        </a:rPr>
                        <a:t>Identify any drug-disease interactions (i.e. HTN, but it's controlled → monitor)</a:t>
                      </a:r>
                    </a:p>
                    <a:p>
                      <a:pPr marL="0" marR="0" lvl="0" indent="0" algn="l" defTabSz="457200" rtl="0" eaLnBrk="1" fontAlgn="base" latinLnBrk="0" hangingPunct="0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45000"/>
                        <a:buFont typeface="Wingdings" charset="0"/>
                        <a:buNone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  <a:tab pos="6515100" algn="l"/>
                          <a:tab pos="7239000" algn="l"/>
                          <a:tab pos="7962900" algn="l"/>
                          <a:tab pos="8686800" algn="l"/>
                          <a:tab pos="9410700" algn="l"/>
                        </a:tabLst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Microsoft YaHei" charset="0"/>
                          <a:cs typeface="Microsoft YaHei" charset="0"/>
                        </a:rPr>
                        <a:t>D/C naproxen</a:t>
                      </a:r>
                    </a:p>
                    <a:p>
                      <a:pPr marL="0" marR="0" lvl="0" indent="0" algn="l" defTabSz="457200" rtl="0" eaLnBrk="1" fontAlgn="base" latinLnBrk="0" hangingPunct="0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45000"/>
                        <a:buFont typeface="Wingdings" charset="0"/>
                        <a:buChar char="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  <a:tab pos="6515100" algn="l"/>
                          <a:tab pos="7239000" algn="l"/>
                          <a:tab pos="7962900" algn="l"/>
                          <a:tab pos="8686800" algn="l"/>
                          <a:tab pos="9410700" algn="l"/>
                        </a:tabLst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Microsoft YaHei" charset="0"/>
                          <a:cs typeface="Microsoft YaHei" charset="0"/>
                        </a:rPr>
                        <a:t>Monitoring for side effects: </a:t>
                      </a: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Microsoft YaHei" charset="0"/>
                          <a:cs typeface="Microsoft YaHei" charset="0"/>
                        </a:rPr>
                        <a:t>Gastritis of dyspepsia,, 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Microsoft YaHei" charset="0"/>
                          <a:cs typeface="Microsoft YaHei" charset="0"/>
                        </a:rPr>
                        <a:t>BP changes(give examples of symptoms and management)</a:t>
                      </a:r>
                    </a:p>
                    <a:p>
                      <a:pPr marL="0" marR="0" lvl="0" indent="0" algn="l" defTabSz="457200" rtl="0" eaLnBrk="1" fontAlgn="base" latinLnBrk="0" hangingPunct="0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45000"/>
                        <a:buFont typeface="Wingdings" charset="0"/>
                        <a:buChar char="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  <a:tab pos="6515100" algn="l"/>
                          <a:tab pos="7239000" algn="l"/>
                          <a:tab pos="7962900" algn="l"/>
                          <a:tab pos="8686800" algn="l"/>
                          <a:tab pos="9410700" algn="l"/>
                        </a:tabLst>
                      </a:pPr>
                      <a:r>
                        <a:rPr kumimoji="0" lang="en-US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Microsoft YaHei" charset="0"/>
                          <a:cs typeface="Microsoft YaHei" charset="0"/>
                        </a:rPr>
                        <a:t>Nonpharm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Microsoft YaHei" charset="0"/>
                          <a:cs typeface="Microsoft YaHei" charset="0"/>
                        </a:rPr>
                        <a:t>: e.g. exercise regular (e.g. Pilates, walking, aquatic exercises) </a:t>
                      </a: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Microsoft YaHei" charset="0"/>
                          <a:cs typeface="Microsoft YaHei" charset="0"/>
                        </a:rPr>
                        <a:t>physiotherapy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Microsoft YaHei" charset="0"/>
                          <a:cs typeface="Microsoft YaHei" charset="0"/>
                        </a:rPr>
                        <a:t>, </a:t>
                      </a: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Microsoft YaHei" charset="0"/>
                          <a:cs typeface="Microsoft YaHei" charset="0"/>
                        </a:rPr>
                        <a:t>weight loss, diet changes</a:t>
                      </a:r>
                    </a:p>
                  </a:txBody>
                  <a:tcPr marL="81643" marR="81643" marT="51250" marB="42451" horzOverflow="overflow">
                    <a:lnL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charset="0"/>
                        <a:buNone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  <a:tab pos="6515100" algn="l"/>
                          <a:tab pos="7239000" algn="l"/>
                          <a:tab pos="7962900" algn="l"/>
                          <a:tab pos="8686800" algn="l"/>
                          <a:tab pos="9410700" algn="l"/>
                        </a:tabLst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charset="0"/>
                          <a:ea typeface="Microsoft YaHei" charset="0"/>
                          <a:cs typeface="Microsoft YaHei" charset="0"/>
                        </a:rPr>
                        <a:t>Excellent </a:t>
                      </a:r>
                    </a:p>
                  </a:txBody>
                  <a:tcPr marL="81643" marR="81643" marT="52736" marB="42451" horzOverflow="overflow">
                    <a:lnL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48879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charset="0"/>
                        <a:buNone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  <a:tab pos="6515100" algn="l"/>
                          <a:tab pos="7239000" algn="l"/>
                          <a:tab pos="7962900" algn="l"/>
                          <a:tab pos="8686800" algn="l"/>
                          <a:tab pos="9410700" algn="l"/>
                        </a:tabLst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charset="0"/>
                          <a:ea typeface="Microsoft YaHei" charset="0"/>
                          <a:cs typeface="Microsoft YaHei" charset="0"/>
                        </a:rPr>
                        <a:t>Marg</a:t>
                      </a:r>
                    </a:p>
                    <a:p>
                      <a:pPr marL="0" marR="0" lvl="0" indent="0" algn="l" defTabSz="457200" rtl="0" eaLnBrk="1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charset="0"/>
                        <a:buNone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  <a:tab pos="6515100" algn="l"/>
                          <a:tab pos="7239000" algn="l"/>
                          <a:tab pos="7962900" algn="l"/>
                          <a:tab pos="8686800" algn="l"/>
                          <a:tab pos="9410700" algn="l"/>
                        </a:tabLst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charset="0"/>
                          <a:ea typeface="Microsoft YaHei" charset="0"/>
                          <a:cs typeface="Microsoft YaHei" charset="0"/>
                        </a:rPr>
                        <a:t>solved</a:t>
                      </a:r>
                    </a:p>
                  </a:txBody>
                  <a:tcPr marL="81643" marR="81643" marT="52736" marB="42451" horzOverflow="overflow">
                    <a:lnL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215900" marR="0" lvl="0" indent="-215900" algn="l" defTabSz="457200" rtl="0" eaLnBrk="1" fontAlgn="base" latinLnBrk="0" hangingPunct="0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45000"/>
                        <a:buFont typeface="Wingdings" charset="0"/>
                        <a:buChar char="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  <a:tab pos="6515100" algn="l"/>
                          <a:tab pos="7239000" algn="l"/>
                          <a:tab pos="7962900" algn="l"/>
                          <a:tab pos="8686800" algn="l"/>
                          <a:tab pos="9410700" algn="l"/>
                        </a:tabLst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Microsoft YaHei" charset="0"/>
                          <a:cs typeface="Microsoft YaHei" charset="0"/>
                        </a:rPr>
                        <a:t>Full counseling </a:t>
                      </a:r>
                    </a:p>
                    <a:p>
                      <a:pPr marL="215900" marR="0" lvl="0" indent="-215900" algn="l" defTabSz="457200" rtl="0" eaLnBrk="1" fontAlgn="base" latinLnBrk="0" hangingPunct="0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45000"/>
                        <a:buFont typeface="Wingdings" charset="0"/>
                        <a:buNone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  <a:tab pos="6515100" algn="l"/>
                          <a:tab pos="7239000" algn="l"/>
                          <a:tab pos="7962900" algn="l"/>
                          <a:tab pos="8686800" algn="l"/>
                          <a:tab pos="9410700" algn="l"/>
                        </a:tabLst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Microsoft YaHei" charset="0"/>
                          <a:cs typeface="Microsoft YaHei" charset="0"/>
                        </a:rPr>
                        <a:t>drug name(brand and generic), indication, strength, directions for use (take a least 30 minutes before meals, swallow whole)</a:t>
                      </a:r>
                    </a:p>
                    <a:p>
                      <a:pPr marL="215900" marR="0" lvl="0" indent="-215900" algn="l" defTabSz="457200" rtl="0" eaLnBrk="1" fontAlgn="base" latinLnBrk="0" hangingPunct="0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45000"/>
                        <a:buFont typeface="Wingdings" charset="0"/>
                        <a:buChar char="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  <a:tab pos="6515100" algn="l"/>
                          <a:tab pos="7239000" algn="l"/>
                          <a:tab pos="7962900" algn="l"/>
                          <a:tab pos="8686800" algn="l"/>
                          <a:tab pos="9410700" algn="l"/>
                        </a:tabLst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Microsoft YaHei" charset="0"/>
                          <a:cs typeface="Microsoft YaHei" charset="0"/>
                        </a:rPr>
                        <a:t>Side effect ( i.e. GI (dyspepsia, NVD GI bleed), CV events(MI stroke), fluid retention, hypertension),</a:t>
                      </a:r>
                    </a:p>
                    <a:p>
                      <a:pPr marL="215900" marR="0" lvl="0" indent="-215900" algn="l" defTabSz="457200" rtl="0" eaLnBrk="1" fontAlgn="base" latinLnBrk="0" hangingPunct="0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45000"/>
                        <a:buFont typeface="Wingdings" charset="0"/>
                        <a:buNone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  <a:tab pos="6515100" algn="l"/>
                          <a:tab pos="7239000" algn="l"/>
                          <a:tab pos="7962900" algn="l"/>
                          <a:tab pos="8686800" algn="l"/>
                          <a:tab pos="9410700" algn="l"/>
                        </a:tabLst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Microsoft YaHei" charset="0"/>
                        <a:cs typeface="Microsoft YaHei" charset="0"/>
                      </a:endParaRPr>
                    </a:p>
                    <a:p>
                      <a:pPr marL="215900" marR="0" lvl="0" indent="-215900" algn="l" defTabSz="457200" rtl="0" eaLnBrk="1" fontAlgn="base" latinLnBrk="0" hangingPunct="0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45000"/>
                        <a:buFont typeface="Wingdings" charset="0"/>
                        <a:buNone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  <a:tab pos="6515100" algn="l"/>
                          <a:tab pos="7239000" algn="l"/>
                          <a:tab pos="7962900" algn="l"/>
                          <a:tab pos="8686800" algn="l"/>
                          <a:tab pos="9410700" algn="l"/>
                        </a:tabLst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Microsoft YaHei" charset="0"/>
                          <a:cs typeface="Microsoft YaHei" charset="0"/>
                        </a:rPr>
                        <a:t>Missing either of:</a:t>
                      </a:r>
                    </a:p>
                    <a:p>
                      <a:pPr marL="215900" marR="0" lvl="0" indent="-215900" algn="l" defTabSz="457200" rtl="0" eaLnBrk="1" fontAlgn="base" latinLnBrk="0" hangingPunct="0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45000"/>
                        <a:buFont typeface="Wingdings" charset="0"/>
                        <a:buChar char="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  <a:tab pos="6515100" algn="l"/>
                          <a:tab pos="7239000" algn="l"/>
                          <a:tab pos="7962900" algn="l"/>
                          <a:tab pos="8686800" algn="l"/>
                          <a:tab pos="9410700" algn="l"/>
                        </a:tabLst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Microsoft YaHei" charset="0"/>
                          <a:cs typeface="Microsoft YaHei" charset="0"/>
                        </a:rPr>
                        <a:t>Monitoring for side effects: GI, BP changes(give examples of symptoms and management)</a:t>
                      </a:r>
                    </a:p>
                    <a:p>
                      <a:pPr marL="215900" marR="0" lvl="0" indent="-215900" algn="l" defTabSz="457200" rtl="0" eaLnBrk="1" fontAlgn="base" latinLnBrk="0" hangingPunct="0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45000"/>
                        <a:buFont typeface="Wingdings" charset="0"/>
                        <a:buChar char="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  <a:tab pos="6515100" algn="l"/>
                          <a:tab pos="7239000" algn="l"/>
                          <a:tab pos="7962900" algn="l"/>
                          <a:tab pos="8686800" algn="l"/>
                          <a:tab pos="9410700" algn="l"/>
                        </a:tabLst>
                      </a:pPr>
                      <a:r>
                        <a:rPr kumimoji="0" lang="en-US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Microsoft YaHei" charset="0"/>
                          <a:cs typeface="Microsoft YaHei" charset="0"/>
                        </a:rPr>
                        <a:t>Nonpharm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Microsoft YaHei" charset="0"/>
                          <a:cs typeface="Microsoft YaHei" charset="0"/>
                        </a:rPr>
                        <a:t>: e.g. exercise 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Microsoft YaHei" charset="0"/>
                          <a:cs typeface="Microsoft YaHei" charset="0"/>
                        </a:rPr>
                        <a:t>regular 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Microsoft YaHei" charset="0"/>
                          <a:cs typeface="Microsoft YaHei" charset="0"/>
                        </a:rPr>
                        <a:t>(e.g. Pilates, walking, aquatic exercises)physiotherapy, weight loss, diet changes</a:t>
                      </a:r>
                    </a:p>
                  </a:txBody>
                  <a:tcPr marL="81643" marR="81643" marT="51250" marB="42451" horzOverflow="overflow">
                    <a:lnL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charset="0"/>
                        <a:buNone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  <a:tab pos="6515100" algn="l"/>
                          <a:tab pos="7239000" algn="l"/>
                          <a:tab pos="7962900" algn="l"/>
                          <a:tab pos="8686800" algn="l"/>
                          <a:tab pos="9410700" algn="l"/>
                        </a:tabLst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charset="0"/>
                          <a:ea typeface="Microsoft YaHei" charset="0"/>
                          <a:cs typeface="Microsoft YaHei" charset="0"/>
                        </a:rPr>
                        <a:t>Good</a:t>
                      </a:r>
                    </a:p>
                  </a:txBody>
                  <a:tcPr marL="81643" marR="81643" marT="52736" marB="42451" horzOverflow="overflow">
                    <a:lnL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1856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charset="0"/>
                        <a:buNone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  <a:tab pos="6515100" algn="l"/>
                          <a:tab pos="7239000" algn="l"/>
                          <a:tab pos="7962900" algn="l"/>
                          <a:tab pos="8686800" algn="l"/>
                          <a:tab pos="94107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charset="0"/>
                          <a:ea typeface="Microsoft YaHei" charset="0"/>
                          <a:cs typeface="Microsoft YaHei" charset="0"/>
                        </a:rPr>
                        <a:t>Marg</a:t>
                      </a:r>
                    </a:p>
                    <a:p>
                      <a:pPr marL="0" marR="0" lvl="0" indent="0" algn="l" defTabSz="457200" rtl="0" eaLnBrk="1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charset="0"/>
                        <a:buNone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  <a:tab pos="6515100" algn="l"/>
                          <a:tab pos="7239000" algn="l"/>
                          <a:tab pos="7962900" algn="l"/>
                          <a:tab pos="8686800" algn="l"/>
                          <a:tab pos="94107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charset="0"/>
                          <a:ea typeface="Microsoft YaHei" charset="0"/>
                          <a:cs typeface="Microsoft YaHei" charset="0"/>
                        </a:rPr>
                        <a:t>unsolved</a:t>
                      </a:r>
                    </a:p>
                  </a:txBody>
                  <a:tcPr marL="81643" marR="81643" marT="52736" marB="42451" horzOverflow="overflow">
                    <a:lnL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0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charset="0"/>
                        <a:buChar char="•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  <a:tab pos="6515100" algn="l"/>
                          <a:tab pos="7239000" algn="l"/>
                          <a:tab pos="7962900" algn="l"/>
                          <a:tab pos="8686800" algn="l"/>
                          <a:tab pos="9410700" algn="l"/>
                        </a:tabLst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Microsoft YaHei" charset="0"/>
                          <a:cs typeface="Microsoft YaHei" charset="0"/>
                        </a:rPr>
                        <a:t>Counseling</a:t>
                      </a:r>
                    </a:p>
                    <a:p>
                      <a:pPr marL="0" marR="0" lvl="0" indent="0" algn="l" defTabSz="457200" rtl="0" eaLnBrk="1" fontAlgn="base" latinLnBrk="0" hangingPunct="0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charset="0"/>
                        <a:buChar char="•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  <a:tab pos="6515100" algn="l"/>
                          <a:tab pos="7239000" algn="l"/>
                          <a:tab pos="7962900" algn="l"/>
                          <a:tab pos="8686800" algn="l"/>
                          <a:tab pos="9410700" algn="l"/>
                        </a:tabLst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Microsoft YaHei" charset="0"/>
                          <a:cs typeface="Microsoft YaHei" charset="0"/>
                        </a:rPr>
                        <a:t>Unable to tackle other queries (non pharms, monitoring for side effects and management)</a:t>
                      </a:r>
                    </a:p>
                  </a:txBody>
                  <a:tcPr marL="81643" marR="81643" marT="51250" marB="42451" horzOverflow="overflow">
                    <a:lnL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charset="0"/>
                        <a:buNone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  <a:tab pos="6515100" algn="l"/>
                          <a:tab pos="7239000" algn="l"/>
                          <a:tab pos="7962900" algn="l"/>
                          <a:tab pos="8686800" algn="l"/>
                          <a:tab pos="9410700" algn="l"/>
                        </a:tabLst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charset="0"/>
                          <a:ea typeface="Microsoft YaHei" charset="0"/>
                          <a:cs typeface="Microsoft YaHei" charset="0"/>
                        </a:rPr>
                        <a:t>Fair</a:t>
                      </a:r>
                    </a:p>
                  </a:txBody>
                  <a:tcPr marL="81643" marR="81643" marT="52736" marB="42451" horzOverflow="overflow">
                    <a:lnL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98530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charset="0"/>
                        <a:buNone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  <a:tab pos="6515100" algn="l"/>
                          <a:tab pos="7239000" algn="l"/>
                          <a:tab pos="7962900" algn="l"/>
                          <a:tab pos="8686800" algn="l"/>
                          <a:tab pos="9410700" algn="l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charset="0"/>
                          <a:ea typeface="Microsoft YaHei" charset="0"/>
                          <a:cs typeface="Microsoft YaHei" charset="0"/>
                        </a:rPr>
                        <a:t>unsolved</a:t>
                      </a:r>
                    </a:p>
                  </a:txBody>
                  <a:tcPr marL="81643" marR="81643" marT="52736" marB="42451" horzOverflow="overflow">
                    <a:lnL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0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charset="0"/>
                        <a:buChar char="•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  <a:tab pos="6515100" algn="l"/>
                          <a:tab pos="7239000" algn="l"/>
                          <a:tab pos="7962900" algn="l"/>
                          <a:tab pos="8686800" algn="l"/>
                          <a:tab pos="9410700" algn="l"/>
                        </a:tabLst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Microsoft YaHei" charset="0"/>
                          <a:cs typeface="Microsoft YaHei" charset="0"/>
                        </a:rPr>
                        <a:t>Does not 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Microsoft YaHei" charset="0"/>
                          <a:cs typeface="Microsoft YaHei" charset="0"/>
                        </a:rPr>
                        <a:t>identify 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Microsoft YaHei" charset="0"/>
                          <a:cs typeface="Microsoft YaHei" charset="0"/>
                        </a:rPr>
                        <a:t>DRP</a:t>
                      </a:r>
                    </a:p>
                    <a:p>
                      <a:pPr marL="0" marR="0" lvl="0" indent="0" algn="l" defTabSz="457200" rtl="0" eaLnBrk="1" fontAlgn="base" latinLnBrk="0" hangingPunct="0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charset="0"/>
                        <a:buChar char="•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  <a:tab pos="6515100" algn="l"/>
                          <a:tab pos="7239000" algn="l"/>
                          <a:tab pos="7962900" algn="l"/>
                          <a:tab pos="8686800" algn="l"/>
                          <a:tab pos="9410700" algn="l"/>
                        </a:tabLst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Microsoft YaHei" charset="0"/>
                          <a:cs typeface="Microsoft YaHei" charset="0"/>
                        </a:rPr>
                        <a:t>Unable to understand the challenge posed</a:t>
                      </a:r>
                    </a:p>
                  </a:txBody>
                  <a:tcPr marL="81643" marR="81643" marT="51250" marB="42451" horzOverflow="overflow">
                    <a:lnL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charset="0"/>
                        <a:buNone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  <a:tab pos="6515100" algn="l"/>
                          <a:tab pos="7239000" algn="l"/>
                          <a:tab pos="7962900" algn="l"/>
                          <a:tab pos="8686800" algn="l"/>
                          <a:tab pos="9410700" algn="l"/>
                        </a:tabLst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charset="0"/>
                          <a:ea typeface="Microsoft YaHei" charset="0"/>
                          <a:cs typeface="Microsoft YaHei" charset="0"/>
                        </a:rPr>
                        <a:t>Unacceptable</a:t>
                      </a:r>
                    </a:p>
                  </a:txBody>
                  <a:tcPr marL="81643" marR="81643" marT="52736" marB="42451" horzOverflow="overflow">
                    <a:lnL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5628729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735</Words>
  <Application>Microsoft Office PowerPoint</Application>
  <PresentationFormat>Widescreen</PresentationFormat>
  <Paragraphs>103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6" baseType="lpstr">
      <vt:lpstr>Microsoft YaHei</vt:lpstr>
      <vt:lpstr>MS PGothic</vt:lpstr>
      <vt:lpstr>MS PGothic</vt:lpstr>
      <vt:lpstr>Arial</vt:lpstr>
      <vt:lpstr>Calibri</vt:lpstr>
      <vt:lpstr>Calibri Light</vt:lpstr>
      <vt:lpstr>Times New Roman</vt:lpstr>
      <vt:lpstr>Wingdings</vt:lpstr>
      <vt:lpstr>Wingdings 2</vt:lpstr>
      <vt:lpstr>Office Theme</vt:lpstr>
      <vt:lpstr>PowerPoint Presentation</vt:lpstr>
      <vt:lpstr>PowerPoint Presentation</vt:lpstr>
      <vt:lpstr>PowerPoint Presentation</vt:lpstr>
      <vt:lpstr>PowerPoint Presentation</vt:lpstr>
      <vt:lpstr>Solution</vt:lpstr>
      <vt:lpstr>PowerPoint Presentation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Rx</dc:creator>
  <cp:lastModifiedBy>Rx</cp:lastModifiedBy>
  <cp:revision>2</cp:revision>
  <dcterms:created xsi:type="dcterms:W3CDTF">2025-11-22T23:16:56Z</dcterms:created>
  <dcterms:modified xsi:type="dcterms:W3CDTF">2025-11-22T23:18:08Z</dcterms:modified>
</cp:coreProperties>
</file>